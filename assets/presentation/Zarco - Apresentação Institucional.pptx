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912ec8e-0875-52aa-da01-32f00678967b}">
          <p14:sldIdLst>
            <p14:sldId id="256"/>
          </p14:sldIdLst>
        </p14:section>
        <p14:section name="Posicionamento" id="{4afebb4d-e32a-9756-4424-f06102d067d3}">
          <p14:sldIdLst>
            <p14:sldId id="257"/>
          </p14:sldIdLst>
        </p14:section>
        <p14:section name="Problemas" id="{547b7185-d804-89fe-9b58-dd99f5961630}">
          <p14:sldIdLst>
            <p14:sldId id="258"/>
          </p14:sldIdLst>
        </p14:section>
        <p14:section name="Serviços" id="{51a441b9-bf31-9df9-43ac-494fafbbfafc}">
          <p14:sldIdLst>
            <p14:sldId id="259"/>
            <p14:sldId id="260"/>
            <p14:sldId id="261"/>
          </p14:sldIdLst>
        </p14:section>
        <p14:section name="Processo" id="{96397906-bfee-d5cb-1756-64330919d58c}">
          <p14:sldIdLst>
            <p14:sldId id="262"/>
          </p14:sldIdLst>
        </p14:section>
        <p14:section name="Produto" id="{269b3e7a-4216-8723-0fa3-0dfc78d51995}">
          <p14:sldIdLst>
            <p14:sldId id="263"/>
          </p14:sldIdLst>
        </p14:section>
        <p14:section name="Sobre" id="{749aecf7-efed-8f0a-a807-9dc7ae80b4fa}">
          <p14:sldIdLst>
            <p14:sldId id="264"/>
          </p14:sldIdLst>
        </p14:section>
        <p14:section name="Contato" id="{3f4a5afb-233f-08fe-69af-f5e3c05d435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Zarco, empresa de engenharia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tecnologia é consequência do problema. O diagnóstico vem antes de qualquer decisão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Planilhas, tarefas manuais e sistemas desconectados funcionam até certo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Serviço: Sistemas sob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Serviço: Automação e integrações.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Serviço: Evolução de sistemas.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diagnóstico pode concluir que não vale construir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os campos entre colchetes quando o produto tiver nome e captura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curta. Sem números, clientes ou equipe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 não precisa chegar com a solução pronta. Explique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CO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CO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 / SEÇÃO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</a:t>
            </a:r>
            <a:endParaRPr lang="en-US" sz="3200" dirty="0"/>
          </a:p>
        </p:txBody>
      </p:sp>
      <p:pic>
        <p:nvPicPr>
          <p:cNvPr id="5" name="Image 0" descr="Zar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165973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640" y="6172200"/>
            <a:ext cx="1109441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CO_STATEM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 / SEÇÃO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9601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Frase</a:t>
            </a:r>
            <a:endParaRPr lang="en-US" sz="5400" dirty="0"/>
          </a:p>
        </p:txBody>
      </p:sp>
      <p:pic>
        <p:nvPicPr>
          <p:cNvPr id="4" name="Image 0" descr="Zar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165973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48640" y="6172200"/>
            <a:ext cx="1109441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CO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B5B7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B5B7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CONTATO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</a:t>
            </a:r>
            <a:endParaRPr lang="en-US" sz="4800" dirty="0"/>
          </a:p>
        </p:txBody>
      </p:sp>
      <p:pic>
        <p:nvPicPr>
          <p:cNvPr id="4" name="Image 0" descr="Zar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165973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48640" y="6172200"/>
            <a:ext cx="11094415" cy="0"/>
          </a:xfrm>
          <a:prstGeom prst="line">
            <a:avLst/>
          </a:prstGeom>
          <a:noFill/>
          <a:ln w="9525">
            <a:solidFill>
              <a:srgbClr val="33353A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APRESENTAÇÃO INSTITUCIONAL</a:t>
            </a:r>
            <a:endParaRPr lang="en-US" sz="1000" dirty="0"/>
          </a:p>
        </p:txBody>
      </p:sp>
      <p:pic>
        <p:nvPicPr>
          <p:cNvPr id="3" name="Image 0" descr="Zarco, Engenharia de Soft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3840480" cy="1542593"/>
          </a:xfrm>
          <a:prstGeom prst="rect">
            <a:avLst/>
          </a:prstGeom>
        </p:spPr>
      </p:pic>
      <p:sp>
        <p:nvSpPr>
          <p:cNvPr id="4" name="Z Percurso"/>
          <p:cNvSpPr/>
          <p:nvPr/>
        </p:nvSpPr>
        <p:spPr>
          <a:xfrm>
            <a:off x="6385255" y="1051560"/>
            <a:ext cx="5257800" cy="5257800"/>
          </a:xfrm>
          <a:custGeom>
            <a:avLst/>
            <a:gdLst/>
            <a:ahLst/>
            <a:cxnLst/>
            <a:rect l="l" t="t" r="r" b="b"/>
            <a:pathLst>
              <a:path w="5257800" h="5257800">
                <a:moveTo>
                  <a:pt x="1051560" y="0"/>
                </a:moveTo>
                <a:lnTo>
                  <a:pt x="5257800" y="0"/>
                </a:lnTo>
                <a:lnTo>
                  <a:pt x="5257800" y="1051560"/>
                </a:lnTo>
                <a:lnTo>
                  <a:pt x="1608887" y="4206240"/>
                </a:lnTo>
                <a:lnTo>
                  <a:pt x="5257800" y="4206240"/>
                </a:lnTo>
                <a:lnTo>
                  <a:pt x="5257800" y="5257800"/>
                </a:lnTo>
                <a:lnTo>
                  <a:pt x="0" y="5257800"/>
                </a:lnTo>
                <a:lnTo>
                  <a:pt x="0" y="4206240"/>
                </a:lnTo>
                <a:lnTo>
                  <a:pt x="3648913" y="1051560"/>
                </a:lnTo>
                <a:lnTo>
                  <a:pt x="1051560" y="1051560"/>
                </a:lnTo>
                <a:close/>
              </a:path>
            </a:pathLst>
          </a:custGeom>
          <a:ln w="9525">
            <a:solidFill>
              <a:schemeClr val="tx1"/>
            </a:solidFill>
            <a:prstDash val="solid"/>
          </a:ln>
        </p:spPr>
      </p:sp>
      <p:sp>
        <p:nvSpPr>
          <p:cNvPr id="5" name="Acento do Z"/>
          <p:cNvSpPr/>
          <p:nvPr/>
        </p:nvSpPr>
        <p:spPr>
          <a:xfrm>
            <a:off x="10591495" y="5257800"/>
            <a:ext cx="1051560" cy="105156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ENGENHARIA DE SOFTWARE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do tamanho do problema.</a:t>
            </a:r>
            <a:endParaRPr lang="en-US" sz="5400" dirty="0"/>
          </a:p>
        </p:txBody>
      </p:sp>
      <p:sp>
        <p:nvSpPr>
          <p:cNvPr id="4" name="Etapa Problema"/>
          <p:cNvSpPr/>
          <p:nvPr/>
        </p:nvSpPr>
        <p:spPr>
          <a:xfrm>
            <a:off x="548640" y="4160520"/>
            <a:ext cx="1889699" cy="777240"/>
          </a:xfrm>
          <a:prstGeom prst="rect">
            <a:avLst/>
          </a:prstGeom>
          <a:ln w="9525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4270248"/>
            <a:ext cx="163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452628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3203" y="4549140"/>
            <a:ext cx="30175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Etapa Diagnóstico"/>
          <p:cNvSpPr/>
          <p:nvPr/>
        </p:nvSpPr>
        <p:spPr>
          <a:xfrm>
            <a:off x="2849819" y="4160520"/>
            <a:ext cx="1889699" cy="77724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7835" y="4270248"/>
            <a:ext cx="163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77835" y="452628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94382" y="4549140"/>
            <a:ext cx="30175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Etapa Decisão"/>
          <p:cNvSpPr/>
          <p:nvPr/>
        </p:nvSpPr>
        <p:spPr>
          <a:xfrm>
            <a:off x="5150998" y="4160520"/>
            <a:ext cx="1889699" cy="777240"/>
          </a:xfrm>
          <a:prstGeom prst="rect">
            <a:avLst/>
          </a:prstGeom>
          <a:ln w="9525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9014" y="4270248"/>
            <a:ext cx="163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279014" y="452628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561" y="4549140"/>
            <a:ext cx="30175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Etapa Engenharia"/>
          <p:cNvSpPr/>
          <p:nvPr/>
        </p:nvSpPr>
        <p:spPr>
          <a:xfrm>
            <a:off x="7452177" y="4160520"/>
            <a:ext cx="1889699" cy="777240"/>
          </a:xfrm>
          <a:prstGeom prst="rect">
            <a:avLst/>
          </a:prstGeom>
          <a:ln w="9525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0193" y="4270248"/>
            <a:ext cx="163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580193" y="452628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ENGENHARIA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96740" y="4549140"/>
            <a:ext cx="30175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Etapa Software"/>
          <p:cNvSpPr/>
          <p:nvPr/>
        </p:nvSpPr>
        <p:spPr>
          <a:xfrm>
            <a:off x="9753356" y="4160520"/>
            <a:ext cx="1889699" cy="777240"/>
          </a:xfrm>
          <a:prstGeom prst="rect">
            <a:avLst/>
          </a:prstGeom>
          <a:ln w="9525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81372" y="4270248"/>
            <a:ext cx="163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881372" y="452628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tecnologia entra no fim, como consequência.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PROBLEMAS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tipo de problema que resolvemos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Processos presos em planilhas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53458" y="23774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53458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53458" y="28346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Trabalho repetitivo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58277" y="23774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8277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158277" y="28346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que não conversam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Informação espalhada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53458" y="39776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53458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53458" y="44348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interno inexistente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58277" y="3977640"/>
            <a:ext cx="3484778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58277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58277" y="443484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difícil de manter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SERVIÇOS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sob medida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processo da empresa não cabe bem em nenhuma ferramenta existente.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EXEMPLOS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28346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9443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internos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32918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34015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Painéis operacionais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7490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8587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Portais para clientes e funcionários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42062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43159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Plataformas web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6634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TIPO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Sistema sob medida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QUANDO FAZ SENTIDO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Processo próprio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Sistema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SERVIÇOS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Automação e integrações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equipe repete tarefas ou transporta informação à mão entre sistemas.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EXEMPLOS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28346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9443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Integração via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32918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34015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Automação de processos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7490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8587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Importação e exportação de dados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42062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43159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Notificações e rotinas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6634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TIPO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Integração e automação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QUANDO FAZ SENTIDO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Trabalho manual entre sistemas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Fluxo automatizado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SERVIÇOS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Evolução de sistemas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software existe, mas ficou difícil de manter ou precisa continuar evoluindo.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EXEMPLOS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28346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9443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Novas funcionalidades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32918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34015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Correção de problemas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7490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8587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Modernização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42062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431596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Manutenção e evolução contínua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663440"/>
            <a:ext cx="4876495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TIPO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Evolução de software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QUANDO FAZ SENTIDO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Sistema existente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983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Continuidade técnica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PROCESSO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trabalhamos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Nó Diagnóstico"/>
          <p:cNvSpPr/>
          <p:nvPr/>
        </p:nvSpPr>
        <p:spPr>
          <a:xfrm>
            <a:off x="548640" y="2688336"/>
            <a:ext cx="10972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0128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67328"/>
            <a:ext cx="19079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Entender como o processo funciona hoje.</a:t>
            </a:r>
            <a:endParaRPr lang="en-US" sz="1400" dirty="0"/>
          </a:p>
        </p:txBody>
      </p:sp>
      <p:sp>
        <p:nvSpPr>
          <p:cNvPr id="9" name="Nó Decisão"/>
          <p:cNvSpPr/>
          <p:nvPr/>
        </p:nvSpPr>
        <p:spPr>
          <a:xfrm>
            <a:off x="2822387" y="2688336"/>
            <a:ext cx="109728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22387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22387" y="3310128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Decisão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767328"/>
            <a:ext cx="19079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o que realmente vale construir.</a:t>
            </a:r>
            <a:endParaRPr lang="en-US" sz="1400" dirty="0"/>
          </a:p>
        </p:txBody>
      </p:sp>
      <p:sp>
        <p:nvSpPr>
          <p:cNvPr id="13" name="Nó Projeto"/>
          <p:cNvSpPr/>
          <p:nvPr/>
        </p:nvSpPr>
        <p:spPr>
          <a:xfrm>
            <a:off x="5096134" y="2688336"/>
            <a:ext cx="109728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96134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96134" y="3310128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96134" y="3767328"/>
            <a:ext cx="19079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Escopo, arquitetura, prazo e critérios.</a:t>
            </a:r>
            <a:endParaRPr lang="en-US" sz="1400" dirty="0"/>
          </a:p>
        </p:txBody>
      </p:sp>
      <p:sp>
        <p:nvSpPr>
          <p:cNvPr id="17" name="Nó Construção"/>
          <p:cNvSpPr/>
          <p:nvPr/>
        </p:nvSpPr>
        <p:spPr>
          <a:xfrm>
            <a:off x="7369881" y="2688336"/>
            <a:ext cx="109728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9881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69881" y="3310128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Construção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69881" y="3767328"/>
            <a:ext cx="19079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Ciclos curtos, com acompanhamento.</a:t>
            </a:r>
            <a:endParaRPr lang="en-US" sz="1400" dirty="0"/>
          </a:p>
        </p:txBody>
      </p:sp>
      <p:sp>
        <p:nvSpPr>
          <p:cNvPr id="21" name="Nó Evolução"/>
          <p:cNvSpPr/>
          <p:nvPr/>
        </p:nvSpPr>
        <p:spPr>
          <a:xfrm>
            <a:off x="9643628" y="2688336"/>
            <a:ext cx="109728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3628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43628" y="3310128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Evolução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643628" y="3767328"/>
            <a:ext cx="19079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Acompanhar, corrigir e melhorar.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Entender antes de construir.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PRODUTO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Produto próprio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206240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[Nome do produto]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206240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9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desenvolvimento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206240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TIPO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953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206240" cy="0"/>
          </a:xfrm>
          <a:prstGeom prst="line">
            <a:avLst/>
          </a:prstGeom>
          <a:noFill/>
          <a:ln w="9525">
            <a:solidFill>
              <a:srgbClr val="D6D3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81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[Problema que o produto resolve]</a:t>
            </a:r>
            <a:endParaRPr lang="en-US" sz="1500" dirty="0"/>
          </a:p>
        </p:txBody>
      </p:sp>
      <p:pic>
        <p:nvPicPr>
          <p:cNvPr id="16" name="Image 0" descr="Built by Zar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66360"/>
            <a:ext cx="1463040" cy="206458"/>
          </a:xfrm>
          <a:prstGeom prst="rect">
            <a:avLst/>
          </a:prstGeom>
        </p:spPr>
      </p:pic>
      <p:sp>
        <p:nvSpPr>
          <p:cNvPr id="17" name="Área da captura"/>
          <p:cNvSpPr/>
          <p:nvPr/>
        </p:nvSpPr>
        <p:spPr>
          <a:xfrm>
            <a:off x="5394960" y="2194560"/>
            <a:ext cx="6248095" cy="3566160"/>
          </a:xfrm>
          <a:prstGeom prst="rect">
            <a:avLst/>
          </a:prstGeom>
          <a:ln w="9525">
            <a:solidFill>
              <a:schemeClr val="tx2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6235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[CAPTURA DE INTERFACE DO PRODUTO]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SOBRE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14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a Zarco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Empresa de engenharia de software. Quem conversa com o cliente participa do diagnóstico, do projeto e da construção.</a:t>
            </a:r>
            <a:endParaRPr lang="en-US" sz="2200" dirty="0"/>
          </a:p>
        </p:txBody>
      </p:sp>
      <p:sp>
        <p:nvSpPr>
          <p:cNvPr id="5" name="Foto do fundador"/>
          <p:cNvSpPr/>
          <p:nvPr/>
        </p:nvSpPr>
        <p:spPr>
          <a:xfrm>
            <a:off x="8778240" y="2240280"/>
            <a:ext cx="2011680" cy="2514600"/>
          </a:xfrm>
          <a:prstGeom prst="rect">
            <a:avLst/>
          </a:prstGeom>
          <a:ln w="9525">
            <a:solidFill>
              <a:schemeClr val="tx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915400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[FOTO]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4892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FUNDADOR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Arthur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9107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dirty="0">
                <a:solidFill>
                  <a:srgbClr val="B5B7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CONTATO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Conversar sobre um projeto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rgbClr val="9A9C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E-MAIL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EDEB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[E-MAIL]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rgbClr val="9A9C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TELEFONE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EDEB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[TELEFONE]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" kern="0" dirty="0">
                <a:solidFill>
                  <a:srgbClr val="9A9C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EDEB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[SITE]</a:t>
            </a:r>
            <a:endParaRPr lang="en-US" sz="1300" dirty="0"/>
          </a:p>
        </p:txBody>
      </p:sp>
      <p:sp>
        <p:nvSpPr>
          <p:cNvPr id="10" name="Monograma"/>
          <p:cNvSpPr/>
          <p:nvPr/>
        </p:nvSpPr>
        <p:spPr>
          <a:xfrm>
            <a:off x="10180015" y="438912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292608" y="0"/>
                </a:moveTo>
                <a:lnTo>
                  <a:pt x="1463040" y="0"/>
                </a:lnTo>
                <a:lnTo>
                  <a:pt x="1463040" y="292608"/>
                </a:lnTo>
                <a:lnTo>
                  <a:pt x="447690" y="1170432"/>
                </a:lnTo>
                <a:lnTo>
                  <a:pt x="1170432" y="1170432"/>
                </a:lnTo>
                <a:lnTo>
                  <a:pt x="1170432" y="1463040"/>
                </a:lnTo>
                <a:lnTo>
                  <a:pt x="0" y="1463040"/>
                </a:lnTo>
                <a:lnTo>
                  <a:pt x="0" y="1170432"/>
                </a:lnTo>
                <a:lnTo>
                  <a:pt x="1015350" y="292608"/>
                </a:lnTo>
                <a:lnTo>
                  <a:pt x="292608" y="292608"/>
                </a:lnTo>
                <a:close/>
              </a:path>
            </a:pathLst>
          </a:custGeom>
          <a:solidFill>
            <a:srgbClr val="EDEBE6"/>
          </a:solidFill>
          <a:ln/>
        </p:spPr>
      </p:sp>
      <p:sp>
        <p:nvSpPr>
          <p:cNvPr id="11" name="Acento do Z"/>
          <p:cNvSpPr/>
          <p:nvPr/>
        </p:nvSpPr>
        <p:spPr>
          <a:xfrm>
            <a:off x="11350447" y="5559552"/>
            <a:ext cx="292608" cy="292608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Zarco">
  <a:themeElements>
    <a:clrScheme name="Zarco">
      <a:dk1>
        <a:srgbClr val="17181A"/>
      </a:dk1>
      <a:lt1>
        <a:srgbClr val="F4F3EF"/>
      </a:lt1>
      <a:dk2>
        <a:srgbClr val="5F6168"/>
      </a:dk2>
      <a:lt2>
        <a:srgbClr val="E9E7E1"/>
      </a:lt2>
      <a:accent1>
        <a:srgbClr val="FF5A1F"/>
      </a:accent1>
      <a:accent2>
        <a:srgbClr val="17181A"/>
      </a:accent2>
      <a:accent3>
        <a:srgbClr val="5F6168"/>
      </a:accent3>
      <a:accent4>
        <a:srgbClr val="D6D3CB"/>
      </a:accent4>
      <a:accent5>
        <a:srgbClr val="C2410C"/>
      </a:accent5>
      <a:accent6>
        <a:srgbClr val="9A9CA3"/>
      </a:accent6>
      <a:hlink>
        <a:srgbClr val="17181A"/>
      </a:hlink>
      <a:folHlink>
        <a:srgbClr val="5F6168"/>
      </a:folHlink>
    </a:clrScheme>
    <a:fontScheme name="Zarco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Zarco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Zarco, apresentação institucional</dc:title>
  <dc:subject>PptxGenJS Presentation</dc:subject>
  <dc:creator>Zarco</dc:creator>
  <cp:lastModifiedBy>Zarco</cp:lastModifiedBy>
  <cp:revision>1</cp:revision>
  <dcterms:created xsi:type="dcterms:W3CDTF">2026-10-06T22:15:19Z</dcterms:created>
  <dcterms:modified xsi:type="dcterms:W3CDTF">2026-10-06T22:15:19Z</dcterms:modified>
</cp:coreProperties>
</file>